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24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44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296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82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4360"/>
            <a:ext cx="5212080" cy="5394960"/>
          </a:xfrm>
          <a:prstGeom prst="roundRect">
            <a:avLst>
              <a:gd name="adj" fmla="val 2632"/>
            </a:avLst>
          </a:prstGeom>
          <a:solidFill>
            <a:srgbClr val="FFF8ED">
              <a:alpha val="94000"/>
            </a:srgbClr>
          </a:solidFill>
          <a:ln w="13970">
            <a:solidFill>
              <a:srgbClr val="F1D8B8"/>
            </a:solidFill>
            <a:prstDash val="solid"/>
          </a:ln>
          <a:effectLst>
            <a:outerShdw blurRad="381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4" name="Shape 1"/>
          <p:cNvSpPr/>
          <p:nvPr/>
        </p:nvSpPr>
        <p:spPr>
          <a:xfrm>
            <a:off x="896112" y="877824"/>
            <a:ext cx="411480" cy="411480"/>
          </a:xfrm>
          <a:prstGeom prst="ellipse">
            <a:avLst/>
          </a:prstGeom>
          <a:solidFill>
            <a:srgbClr val="D99A44"/>
          </a:solidFill>
          <a:ln w="12700">
            <a:solidFill>
              <a:srgbClr val="D99A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1832" y="99669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SP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417320" y="868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 Pão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96112" y="16002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C2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de Gestão para Padaria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96112" y="2816352"/>
            <a:ext cx="4160520" cy="0"/>
          </a:xfrm>
          <a:prstGeom prst="line">
            <a:avLst/>
          </a:prstGeom>
          <a:noFill/>
          <a:ln w="25400">
            <a:solidFill>
              <a:srgbClr val="D99A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3090672"/>
            <a:ext cx="41605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B1A10"/>
                </a:solidFill>
              </a:rPr>
              <a:t>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01852" y="3246121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3B1B08"/>
                </a:solidFill>
              </a:rPr>
              <a:t>Acadêmico</a:t>
            </a:r>
            <a:r>
              <a:rPr lang="en-US" sz="1400" b="1" dirty="0">
                <a:solidFill>
                  <a:srgbClr val="3B1B08"/>
                </a:solidFill>
              </a:rPr>
              <a:t>: Gabriel Luis Simianco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 err="1">
                <a:solidFill>
                  <a:srgbClr val="3B1B08"/>
                </a:solidFill>
              </a:rPr>
              <a:t>Práticas</a:t>
            </a:r>
            <a:r>
              <a:rPr lang="en-US" sz="1400" b="1" dirty="0">
                <a:solidFill>
                  <a:srgbClr val="3B1B08"/>
                </a:solidFill>
              </a:rPr>
              <a:t> </a:t>
            </a:r>
            <a:r>
              <a:rPr lang="en-US" sz="1400" b="1" dirty="0" err="1">
                <a:solidFill>
                  <a:srgbClr val="3B1B08"/>
                </a:solidFill>
              </a:rPr>
              <a:t>Extensionais</a:t>
            </a:r>
            <a:r>
              <a:rPr lang="en-US" sz="1400" b="1" dirty="0">
                <a:solidFill>
                  <a:srgbClr val="3B1B08"/>
                </a:solidFill>
              </a:rPr>
              <a:t> III</a:t>
            </a:r>
            <a:br>
              <a:rPr lang="en-US" sz="1400" b="1" dirty="0">
                <a:solidFill>
                  <a:srgbClr val="3B1B08"/>
                </a:solidFill>
              </a:rPr>
            </a:br>
            <a:r>
              <a:rPr lang="en-US" sz="1400" b="1" dirty="0" err="1">
                <a:solidFill>
                  <a:srgbClr val="3B1B08"/>
                </a:solidFill>
              </a:rPr>
              <a:t>Orientador</a:t>
            </a:r>
            <a:r>
              <a:rPr lang="en-US" sz="1400" b="1" dirty="0">
                <a:solidFill>
                  <a:srgbClr val="3B1B08"/>
                </a:solidFill>
              </a:rPr>
              <a:t>: Jean Carlos </a:t>
            </a:r>
            <a:r>
              <a:rPr lang="en-US" sz="1400" b="1" dirty="0" err="1">
                <a:solidFill>
                  <a:srgbClr val="3B1B08"/>
                </a:solidFill>
              </a:rPr>
              <a:t>Hennrichs</a:t>
            </a:r>
            <a:br>
              <a:rPr lang="en-US" sz="1400" b="1" dirty="0">
                <a:solidFill>
                  <a:srgbClr val="3B1B08"/>
                </a:solidFill>
              </a:rPr>
            </a:br>
            <a:br>
              <a:rPr lang="en-US" sz="1400" b="1" dirty="0">
                <a:solidFill>
                  <a:srgbClr val="3B1B08"/>
                </a:solidFill>
              </a:rPr>
            </a:br>
            <a:r>
              <a:rPr lang="en-US" sz="1400" b="1" dirty="0">
                <a:solidFill>
                  <a:srgbClr val="3B1B08"/>
                </a:solidFill>
              </a:rPr>
              <a:t>UNOESC • 2026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87552" y="423367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907792" y="42336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44"/>
          </a:solidFill>
          <a:ln w="12700">
            <a:solidFill>
              <a:srgbClr val="D99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 Pão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B0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a resolver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875520" y="612648"/>
            <a:ext cx="1874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338560" cy="0"/>
          </a:xfrm>
          <a:prstGeom prst="line">
            <a:avLst/>
          </a:prstGeom>
          <a:noFill/>
          <a:ln w="15240">
            <a:solidFill>
              <a:srgbClr val="F1D8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16184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344168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Controle manual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2011680"/>
            <a:ext cx="25603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Registros em papel ou planilhas aumentam a chance de erros e retrabalho.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5424" y="16184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5120640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Estoque pouco visível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2011680"/>
            <a:ext cx="25603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Dificuldade para acompanhar produtos, validade e necessidade de reposição.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141732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16184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906256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Atendimento lento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06256" y="2011680"/>
            <a:ext cx="25603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Informações espalhadas dificultam consultas e relatórios gerenciais.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9867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5140"/>
                </a:solidFill>
              </a:rPr>
              <a:t>Práticas Extensionistas III • Sistema de Gestão para Padaria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38560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5140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44"/>
          </a:solidFill>
          <a:ln w="12700">
            <a:solidFill>
              <a:srgbClr val="D99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 Pão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B0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Proposta de solução computacional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875520" y="612648"/>
            <a:ext cx="1874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338560" cy="0"/>
          </a:xfrm>
          <a:prstGeom prst="line">
            <a:avLst/>
          </a:prstGeom>
          <a:noFill/>
          <a:ln w="15240">
            <a:solidFill>
              <a:srgbClr val="F1D8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2E0E"/>
                </a:solidFill>
              </a:rPr>
              <a:t>MVP web para gestão da padaria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901952"/>
            <a:ext cx="64922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B1A10"/>
                </a:solidFill>
              </a:rPr>
              <a:t>A proposta foi transformar a modelagem da Entrega 1 em um protótipo funcional com autenticação, cadastro de produtos, consulta/relatório e contato com desenvolvedores.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33101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01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435608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PHP + MariaDB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3703320"/>
            <a:ext cx="25603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Sistema web executado localmente com XAMPP e banco relacional.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310896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33101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184648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MVP funcional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84648" y="3703320"/>
            <a:ext cx="25603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Foco nos recursos essenciais para validar a solução proposta.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310896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48472" y="33101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933688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GitHub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33688" y="3703320"/>
            <a:ext cx="25603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Código, banco, diagramas e documentação organizados no repositório.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1234440"/>
            <a:ext cx="3657600" cy="1325880"/>
          </a:xfrm>
          <a:prstGeom prst="roundRect">
            <a:avLst>
              <a:gd name="adj" fmla="val 13793"/>
            </a:avLst>
          </a:prstGeom>
          <a:solidFill>
            <a:srgbClr val="3B1B08"/>
          </a:solidFill>
          <a:ln w="12700">
            <a:solidFill>
              <a:srgbClr val="3B1B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Funcionalidades entregues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19872" y="1847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1D8"/>
                </a:solidFill>
              </a:rPr>
              <a:t>Login • Dashboard • CRUD • Relatório • Contato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5140"/>
                </a:solidFill>
              </a:rPr>
              <a:t>Práticas Extensionistas III • Sistema de Gestão para Padaria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5140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44"/>
          </a:solidFill>
          <a:ln w="12700">
            <a:solidFill>
              <a:srgbClr val="D99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 Pão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B0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ER / relacional atualizado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875520" y="612648"/>
            <a:ext cx="1874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338560" cy="0"/>
          </a:xfrm>
          <a:prstGeom prst="line">
            <a:avLst/>
          </a:prstGeom>
          <a:noFill/>
          <a:ln w="15240">
            <a:solidFill>
              <a:srgbClr val="F1D8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53312"/>
            <a:ext cx="73152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524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2000"/>
              </a:srgbClr>
            </a:outerShdw>
          </a:effectLst>
        </p:spPr>
      </p:sp>
      <p:pic>
        <p:nvPicPr>
          <p:cNvPr id="8" name="Image 0" descr="/mnt/data/Pratica_extensional_II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55" y="1673352"/>
            <a:ext cx="2786211" cy="39593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5733288"/>
            <a:ext cx="6858000" cy="0"/>
          </a:xfrm>
          <a:prstGeom prst="line">
            <a:avLst/>
          </a:prstGeom>
          <a:noFill/>
          <a:ln w="10160">
            <a:solidFill>
              <a:srgbClr val="EBD7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247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 err="1">
                <a:solidFill>
                  <a:srgbClr val="6E5140"/>
                </a:solidFill>
              </a:rPr>
              <a:t>Modelo</a:t>
            </a:r>
            <a:r>
              <a:rPr lang="en-US" sz="850" i="1" dirty="0">
                <a:solidFill>
                  <a:srgbClr val="6E5140"/>
                </a:solidFill>
              </a:rPr>
              <a:t> 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275320" y="1417320"/>
            <a:ext cx="3383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400" noProof="0" dirty="0">
                <a:solidFill>
                  <a:srgbClr val="2B1A10"/>
                </a:solidFill>
              </a:rPr>
              <a:t>O modelo relacional orientou a construção do banco de dados </a:t>
            </a:r>
            <a:r>
              <a:rPr lang="pt-BR" sz="1400" noProof="0" dirty="0" err="1">
                <a:solidFill>
                  <a:srgbClr val="2B1A10"/>
                </a:solidFill>
              </a:rPr>
              <a:t>padaria_db</a:t>
            </a:r>
            <a:r>
              <a:rPr lang="pt-BR" sz="1400" noProof="0" dirty="0">
                <a:solidFill>
                  <a:srgbClr val="2B1A10"/>
                </a:solidFill>
              </a:rPr>
              <a:t> e mantém a estrutura planejada para evolução do sistema.</a:t>
            </a:r>
            <a:endParaRPr lang="pt-BR" sz="1400" noProof="0" dirty="0"/>
          </a:p>
        </p:txBody>
      </p:sp>
      <p:sp>
        <p:nvSpPr>
          <p:cNvPr id="12" name="Shape 9"/>
          <p:cNvSpPr/>
          <p:nvPr/>
        </p:nvSpPr>
        <p:spPr>
          <a:xfrm>
            <a:off x="8275320" y="2487167"/>
            <a:ext cx="3429000" cy="1478159"/>
          </a:xfrm>
          <a:prstGeom prst="roundRect">
            <a:avLst>
              <a:gd name="adj" fmla="val 12632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39912" y="2688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01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9025128" y="26883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Principais entidades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25128" y="3081527"/>
            <a:ext cx="2514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Cliente, Funcionário, Produto, Categoria, Pedido, Pagamento e Estoque.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75320" y="4658868"/>
            <a:ext cx="3429000" cy="1248156"/>
          </a:xfrm>
          <a:prstGeom prst="roundRect">
            <a:avLst>
              <a:gd name="adj" fmla="val 12632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39912" y="50566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02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025128" y="474327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MVP implementado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25128" y="5141038"/>
            <a:ext cx="2514600" cy="3337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Tabelas para autenticação, categorias, produtos e contatos.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03920" y="479602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03920" y="5180076"/>
            <a:ext cx="2971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5140"/>
                </a:solidFill>
              </a:rPr>
              <a:t>Práticas Extensionistas III • Sistema de Gestão para Padaria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338560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5140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44"/>
          </a:solidFill>
          <a:ln w="12700">
            <a:solidFill>
              <a:srgbClr val="D99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 Pão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B0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Diagrama de Caso de Uso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875520" y="612648"/>
            <a:ext cx="1874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338560" cy="0"/>
          </a:xfrm>
          <a:prstGeom prst="line">
            <a:avLst/>
          </a:prstGeom>
          <a:noFill/>
          <a:ln w="15240">
            <a:solidFill>
              <a:srgbClr val="F1D8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53312"/>
            <a:ext cx="690372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524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9" name="Shape 6"/>
          <p:cNvSpPr/>
          <p:nvPr/>
        </p:nvSpPr>
        <p:spPr>
          <a:xfrm>
            <a:off x="822960" y="5733288"/>
            <a:ext cx="6446520" cy="0"/>
          </a:xfrm>
          <a:prstGeom prst="line">
            <a:avLst/>
          </a:prstGeom>
          <a:noFill/>
          <a:ln w="10160">
            <a:solidFill>
              <a:srgbClr val="EBD7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24728"/>
            <a:ext cx="6446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E5140"/>
                </a:solidFill>
              </a:rPr>
              <a:t>Diagrama de Caso de Uso Geral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909560" y="1417320"/>
            <a:ext cx="3703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B1A10"/>
                </a:solidFill>
              </a:rPr>
              <a:t>O caso de uso mostra como Cliente, Atendente e Gerente interagem com a solução proposta.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09560" y="224028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74152" y="2441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01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8659368" y="24414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Cliente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59368" y="2834640"/>
            <a:ext cx="2788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Consulta produtos, realiza pedido e efetua pagamento.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09560" y="3310128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74152" y="35112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02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8659368" y="35112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Atendente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659368" y="3904488"/>
            <a:ext cx="2788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Registra pedidos, adiciona produtos e registra pagamentos.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09560" y="4379976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FFDF7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074152" y="45811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03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8659368" y="45811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B08"/>
                </a:solidFill>
              </a:rPr>
              <a:t>Gerente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659368" y="4974336"/>
            <a:ext cx="2788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5140"/>
                </a:solidFill>
              </a:rPr>
              <a:t>Gerencia produtos, estoque, fornecedores e relatórios.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5140"/>
                </a:solidFill>
              </a:rPr>
              <a:t>Práticas Extensionistas III • Sistema de Gestão para Padaria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338560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5140"/>
                </a:solidFill>
              </a:rPr>
              <a:t>05</a:t>
            </a:r>
            <a:endParaRPr lang="en-US" sz="85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020D4831-DDF9-537F-68B4-8BC37C2CB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5" y="1604773"/>
            <a:ext cx="6704892" cy="38130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44"/>
          </a:solidFill>
          <a:ln w="12700">
            <a:solidFill>
              <a:srgbClr val="D99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 Pão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612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B0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Demonstração do protótipo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875520" y="612648"/>
            <a:ext cx="1874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338560" cy="0"/>
          </a:xfrm>
          <a:prstGeom prst="line">
            <a:avLst/>
          </a:prstGeom>
          <a:noFill/>
          <a:ln w="15240">
            <a:solidFill>
              <a:srgbClr val="F1D8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417320"/>
            <a:ext cx="598932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F1D8B8"/>
            </a:solidFill>
            <a:prstDash val="solid"/>
          </a:ln>
          <a:effectLst>
            <a:outerShdw blurRad="25400" dist="50800" dir="2700000" algn="bl" rotWithShape="0">
              <a:srgbClr val="B8875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1755648"/>
            <a:ext cx="329184" cy="329184"/>
          </a:xfrm>
          <a:prstGeom prst="ellipse">
            <a:avLst/>
          </a:prstGeom>
          <a:solidFill>
            <a:srgbClr val="D99A44"/>
          </a:solidFill>
          <a:ln w="12700">
            <a:solidFill>
              <a:srgbClr val="D99A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81965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26464" y="1764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B08"/>
                </a:solidFill>
              </a:rPr>
              <a:t>Login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01568" y="178308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E5140"/>
                </a:solidFill>
              </a:rPr>
              <a:t>Acessar com admin / 123456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960120" y="2505456"/>
            <a:ext cx="329184" cy="329184"/>
          </a:xfrm>
          <a:prstGeom prst="ellipse">
            <a:avLst/>
          </a:prstGeom>
          <a:solidFill>
            <a:srgbClr val="D99A44"/>
          </a:solidFill>
          <a:ln w="12700">
            <a:solidFill>
              <a:srgbClr val="D99A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5694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426464" y="2514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B08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01568" y="253288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E5140"/>
                </a:solidFill>
              </a:rPr>
              <a:t>Mostrar resumo de produtos, categorias, estoque baixo e contatos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960120" y="3255264"/>
            <a:ext cx="329184" cy="329184"/>
          </a:xfrm>
          <a:prstGeom prst="ellipse">
            <a:avLst/>
          </a:prstGeom>
          <a:solidFill>
            <a:srgbClr val="D99A44"/>
          </a:solidFill>
          <a:ln w="12700">
            <a:solidFill>
              <a:srgbClr val="D99A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33192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426464" y="32644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B08"/>
                </a:solidFill>
              </a:rPr>
              <a:t>CRUD de Produtos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01568" y="328269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E5140"/>
                </a:solidFill>
              </a:rPr>
              <a:t>Cadastrar, editar e excluir um produto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960120" y="4005072"/>
            <a:ext cx="329184" cy="329184"/>
          </a:xfrm>
          <a:prstGeom prst="ellipse">
            <a:avLst/>
          </a:prstGeom>
          <a:solidFill>
            <a:srgbClr val="D99A44"/>
          </a:solidFill>
          <a:ln w="12700">
            <a:solidFill>
              <a:srgbClr val="D99A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406908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426464" y="4014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B08"/>
                </a:solidFill>
              </a:rPr>
              <a:t>Relatório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401568" y="403250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E5140"/>
                </a:solidFill>
              </a:rPr>
              <a:t>Pesquisar produto pelo nome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960120" y="4754880"/>
            <a:ext cx="329184" cy="329184"/>
          </a:xfrm>
          <a:prstGeom prst="ellipse">
            <a:avLst/>
          </a:prstGeom>
          <a:solidFill>
            <a:srgbClr val="D99A44"/>
          </a:solidFill>
          <a:ln w="12700">
            <a:solidFill>
              <a:srgbClr val="D99A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481888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426464" y="4764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B08"/>
                </a:solidFill>
              </a:rPr>
              <a:t>Contato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401568" y="478231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E5140"/>
                </a:solidFill>
              </a:rPr>
              <a:t>Enviar mensagem para desenvolvedores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960120" y="54864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5140"/>
                </a:solidFill>
              </a:rPr>
              <a:t>Práticas Extensionistas III • Sistema de Gestão para Padaria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338560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5140"/>
                </a:solidFill>
              </a:rPr>
              <a:t>06</a:t>
            </a:r>
            <a:endParaRPr lang="en-US" sz="85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7A4E25C5-72A5-A3FA-D03C-7A67938C6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589" y="1640645"/>
            <a:ext cx="4782171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1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0" y="868680"/>
            <a:ext cx="10378440" cy="5120640"/>
          </a:xfrm>
          <a:prstGeom prst="roundRect">
            <a:avLst>
              <a:gd name="adj" fmla="val 3214"/>
            </a:avLst>
          </a:prstGeom>
          <a:solidFill>
            <a:srgbClr val="FFF8ED">
              <a:alpha val="96000"/>
            </a:srgbClr>
          </a:solidFill>
          <a:ln w="12700">
            <a:solidFill>
              <a:srgbClr val="F1D8B8"/>
            </a:solidFill>
            <a:prstDash val="solid"/>
          </a:ln>
          <a:effectLst>
            <a:outerShdw blurRad="3810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188720" y="12344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1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21488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2E0E"/>
                </a:solidFill>
              </a:rPr>
              <a:t>Sistema de Gestão para Padaria Santo Pão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2971800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1B08"/>
                </a:solidFill>
              </a:rPr>
              <a:t>Repositório do projeto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331012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2E0E"/>
                </a:solidFill>
              </a:rPr>
              <a:t>github.com/GSimianco/sistema-padaria-praticas-extensionistas-iii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17520" y="3886200"/>
            <a:ext cx="6126480" cy="0"/>
          </a:xfrm>
          <a:prstGeom prst="line">
            <a:avLst/>
          </a:prstGeom>
          <a:noFill/>
          <a:ln w="25400">
            <a:solidFill>
              <a:srgbClr val="D99A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2336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212080" y="51480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415</Words>
  <Application>Microsoft Office PowerPoint</Application>
  <PresentationFormat>Widescreen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 Display</vt:lpstr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UNOESC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para Padaria Santo Pão</dc:title>
  <dc:subject>Apresentação Práticas Extensionistas III - Padaria Santo Pão</dc:subject>
  <dc:creator>Gabriel Luis Simianco</dc:creator>
  <cp:lastModifiedBy>Gabriel Simianco</cp:lastModifiedBy>
  <cp:revision>3</cp:revision>
  <dcterms:created xsi:type="dcterms:W3CDTF">2026-06-30T23:57:30Z</dcterms:created>
  <dcterms:modified xsi:type="dcterms:W3CDTF">2026-07-01T00:23:31Z</dcterms:modified>
</cp:coreProperties>
</file>